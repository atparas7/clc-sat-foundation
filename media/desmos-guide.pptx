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300" r:id="rId45"/>
    <p:sldId id="301" r:id="rId46"/>
    <p:sldId id="302" r:id="rId47"/>
    <p:sldId id="303" r:id="rId48"/>
    <p:sldId id="299" r:id="rId4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6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3453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572000" cy="4572000"/>
          </a:xfrm>
          <a:prstGeom prst="ellipse">
            <a:avLst/>
          </a:prstGeom>
          <a:solidFill>
            <a:srgbClr val="B50000">
              <a:alpha val="22000"/>
            </a:srgbClr>
          </a:solidFill>
          <a:ln w="12700">
            <a:solidFill>
              <a:srgbClr val="B50000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474720"/>
            <a:ext cx="3200400" cy="3200400"/>
          </a:xfrm>
          <a:prstGeom prst="ellipse">
            <a:avLst/>
          </a:prstGeom>
          <a:solidFill>
            <a:srgbClr val="C8960C">
              <a:alpha val="15000"/>
            </a:srgbClr>
          </a:solidFill>
          <a:ln w="12700">
            <a:solidFill>
              <a:srgbClr val="C8960C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347472"/>
            <a:ext cx="2011680" cy="384048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474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 |  Mathematics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Problems with Desmos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2926080" y="2971800"/>
            <a:ext cx="3291840" cy="64008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154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Student Guide  –  CLC Educational Institute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clc.gr  |  desmos.com/calculator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Today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502920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060704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444752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Interface, navigation, saving &amp; sharing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01168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011680"/>
            <a:ext cx="502920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01168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2066544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450592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Points, lines, equations, inequalities, tables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017520"/>
            <a:ext cx="502920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01752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3072384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Graphing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3456432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Quadratics, sliders, piecewise, parametric, polar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402336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4023360"/>
            <a:ext cx="502920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02336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" y="4078224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4462272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Shapes, conics, constructions, Geometry tool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100584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005840"/>
            <a:ext cx="502920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00584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49240" y="1060704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49240" y="1444752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Derivatives, integrals, limits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01168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011680"/>
            <a:ext cx="502920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01168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49240" y="2066544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49240" y="2450592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regression, distributions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01752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017520"/>
            <a:ext cx="502920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01752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349240" y="3072384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&amp; Tricks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49240" y="3456432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Shortcuts, mobile, pro features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Educational Institute  |  clc.gr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B5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926080"/>
            <a:ext cx="3657600" cy="3657600"/>
          </a:xfrm>
          <a:prstGeom prst="ellipse">
            <a:avLst/>
          </a:prstGeom>
          <a:solidFill>
            <a:srgbClr val="7A0000">
              <a:alpha val="40000"/>
            </a:srgbClr>
          </a:solidFill>
          <a:ln w="12700">
            <a:solidFill>
              <a:srgbClr val="7A0000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Desmos interface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Educational Institute  |  clc.gr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Desmos?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8503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Desmos is a free, browser-based graphing calculator — no download or installation needed.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it at desmos.com/calculator on any computer, tablet, or smartphone.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plots points, graphs equations, evaluates functions, tables, and more — all in real time.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millions of students worldwide and accepted in many standardized exams.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includes a Geometry tool, Scientific Calculator, and classroom activities.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your work can be saved and shared with a simple URL — no account required to start.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4617720"/>
            <a:ext cx="8503920" cy="365760"/>
          </a:xfrm>
          <a:prstGeom prst="rect">
            <a:avLst/>
          </a:prstGeom>
          <a:solidFill>
            <a:srgbClr val="C8960C">
              <a:alpha val="18000"/>
            </a:srgbClr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61772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Desmos works in any modern browser. Bookmark desmos.com/calculator so you always have it ready.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Educational Institute  |  clc.gr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Tour of the Desmos Interface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List (left panel): where you type equations, points, and notes.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(right): updates instantly as you type.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Colored circle: click to change color or hide a graph.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(bottom): access math symbols, Greek letters, functions.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Wrench icon (top-right of graph): change axes, grid, angle units.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button: resets the view to fit all graphs on screen.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button: save and share your graph as a URL or image.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66360" y="914400"/>
            <a:ext cx="37033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/sessions/gracious-clever-carson/mnt/outputs/graphs/01_interfa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12080" y="932688"/>
            <a:ext cx="3611880" cy="38770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4617720"/>
            <a:ext cx="4663440" cy="347472"/>
          </a:xfrm>
          <a:prstGeom prst="rect">
            <a:avLst/>
          </a:prstGeom>
          <a:solidFill>
            <a:srgbClr val="C8960C">
              <a:alpha val="18000"/>
            </a:srgbClr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" y="461772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Click directly on any curve on the graph to see its key points.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Educational Institute  |  clc.gr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Desmos?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FREE — no subscription, no login required to start.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visual feedback: you see the graph the moment you type.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sliders let you explore how changing a number changes the graph.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everything from basic arithmetic to calculus and statistics.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computers, iPads, and Android tablets — great for home study.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on many international assessments and curricula.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 write a math formula, Desmos can graph 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23560" y="1005840"/>
            <a:ext cx="3200400" cy="3840480"/>
          </a:xfrm>
          <a:prstGeom prst="rect">
            <a:avLst/>
          </a:prstGeom>
          <a:solidFill>
            <a:srgbClr val="B50000">
              <a:alpha val="10000"/>
            </a:srgbClr>
          </a:solidFill>
          <a:ln w="25400">
            <a:solidFill>
              <a:srgbClr val="B5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23560" y="1005840"/>
            <a:ext cx="3200400" cy="45720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23560" y="1005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DESMOS TOOLS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15000" y="1572768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Graphing Calculator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Calculator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Four-Function Calc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Calculator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Tool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Activities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Calculator (beta)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Educational Institute  |  clc.gr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Navigating the Graph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Pan: click and drag anywhere on the graph to move the view.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Zoom: use the + and – buttons, or scroll your mouse wheel.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button: press to auto-fit the view so all graphs are visible.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exact range: click the Wrench icon and enter x-min, x-max, y-min, y-max.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of interest appear automatically — hover to see exact coordinates.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point to pin its label so it stays visible on screen.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trace: press Alt+T to hear a graph as sound.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23560" y="1005840"/>
            <a:ext cx="3200400" cy="3840480"/>
          </a:xfrm>
          <a:prstGeom prst="rect">
            <a:avLst/>
          </a:prstGeom>
          <a:solidFill>
            <a:srgbClr val="1C1C2E">
              <a:alpha val="10000"/>
            </a:srgbClr>
          </a:solidFill>
          <a:ln w="25400">
            <a:solidFill>
              <a:srgbClr val="1C1C2E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23560" y="1005840"/>
            <a:ext cx="3200400" cy="45720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23560" y="1005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SHORTCUTS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15000" y="1572768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wheel = zoom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= zoom 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- = zoom out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btn = auto-fit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= pan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Wrench = set range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Educational Institute  |  clc.gr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and Sharing Your Work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8503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button (top-left): saves your graph — prompts login if not signed in.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button: generates a unique URL — paste it anywhere to share.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image: save as PNG, SVG, or even Braille embosser format.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Snapshot: a static image of your current graph view.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Re-open saved graphs by clicking the folder icon (top-left) after sign-in.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account? The URL in your browser bar reflects your latest graph — bookmark 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4617720"/>
            <a:ext cx="8503920" cy="365760"/>
          </a:xfrm>
          <a:prstGeom prst="rect">
            <a:avLst/>
          </a:prstGeom>
          <a:solidFill>
            <a:srgbClr val="C8960C">
              <a:alpha val="18000"/>
            </a:srgbClr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61772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Always copy your graph's URL before closing the tab if you don't have an account.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Educational Institute  |  clc.gr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Keyboard Shortcuts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011680" cy="292608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Line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" y="1325880"/>
            <a:ext cx="1865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5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68880" y="100584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005840"/>
            <a:ext cx="2011680" cy="292608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005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42032" y="1325880"/>
            <a:ext cx="1865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5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Z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05840"/>
            <a:ext cx="2011680" cy="292608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005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36592" y="1325880"/>
            <a:ext cx="1865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5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0" y="100584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0" y="1005840"/>
            <a:ext cx="2011680" cy="292608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1005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31152" y="1325880"/>
            <a:ext cx="1865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5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Ctrl+Shift+C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217627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176272"/>
            <a:ext cx="2011680" cy="292608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1762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 / Rad toggle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2496312"/>
            <a:ext cx="1865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5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 + 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468880" y="217627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468880" y="2176272"/>
            <a:ext cx="2011680" cy="292608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0" y="21762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Superscript (^)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42032" y="2496312"/>
            <a:ext cx="1865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5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 key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217627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176272"/>
            <a:ext cx="2011680" cy="292608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21762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36592" y="2496312"/>
            <a:ext cx="1865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5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key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58000" y="217627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58000" y="2176272"/>
            <a:ext cx="2011680" cy="292608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21762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Shortcuts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31152" y="2496312"/>
            <a:ext cx="1865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5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/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Educational Institute  |  clc.gr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B5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926080"/>
            <a:ext cx="3657600" cy="3657600"/>
          </a:xfrm>
          <a:prstGeom prst="ellipse">
            <a:avLst/>
          </a:prstGeom>
          <a:solidFill>
            <a:srgbClr val="7A0000">
              <a:alpha val="40000"/>
            </a:srgbClr>
          </a:solidFill>
          <a:ln w="12700">
            <a:solidFill>
              <a:srgbClr val="7A0000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Algebra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Equations, lines, inequalities &amp; tables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Educational Institute  |  clc.gr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Plotting Points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coordinate pair directly into the expression list.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8503920" cy="2286000"/>
          </a:xfrm>
          <a:prstGeom prst="rect">
            <a:avLst/>
          </a:prstGeom>
          <a:solidFill>
            <a:srgbClr val="1C1C2E"/>
          </a:solidFill>
          <a:ln w="25400">
            <a:solidFill>
              <a:srgbClr val="B5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1554480"/>
            <a:ext cx="8229600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(3, 4)        &lt;- plots a point at x=3, y=4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(-2, 0)       &lt;- plots a point on the x-axis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Multiple points — list them on one line: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(-1,1), (0,0), (1,1), (2,4)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Or use a Table: click  +  -&gt;  Table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and enter x and y columns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3886200"/>
            <a:ext cx="8503920" cy="502920"/>
          </a:xfrm>
          <a:prstGeom prst="rect">
            <a:avLst/>
          </a:prstGeom>
          <a:solidFill>
            <a:srgbClr val="C8960C">
              <a:alpha val="18000"/>
            </a:srgbClr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38862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Click any plotted point to see its exact coordinates. You can drag points to move them.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Educational Institute  |  clc.gr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Graphing Lines and Finding Intersections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any equation involving x and y — Desmos draws it instantly.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2x + 1  draws a line with slope 2, y-intercept 1.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-x + 4  draws a line with slope -1.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TWO equations and Desmos automatically shows their intersection point.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intersection dot to read the exact (x, y) solution.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line: type  x = 3.  Horizontal: type  y = -2.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66360" y="914400"/>
            <a:ext cx="37033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/sessions/gracious-clever-carson/mnt/outputs/graphs/02_lines_intersec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12080" y="932688"/>
            <a:ext cx="3611880" cy="38770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4617720"/>
            <a:ext cx="4663440" cy="347472"/>
          </a:xfrm>
          <a:prstGeom prst="rect">
            <a:avLst/>
          </a:prstGeom>
          <a:solidFill>
            <a:srgbClr val="C8960C">
              <a:alpha val="18000"/>
            </a:srgbClr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" y="461772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Hover over the intersection point to read the exact coordinates.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Educational Institute  |  clc.gr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Linear Equations Graphically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type both sides of the equation as  y = ...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solve  2x + 3 = 7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Line 1:  y = 2x + 3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Line 2:  y = 7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x-coordinate of the intersection = the solution.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point to confirm: x = 2.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check any hand-calculated answer this way instantly.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66360" y="914400"/>
            <a:ext cx="37033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/sessions/gracious-clever-carson/mnt/outputs/graphs/03_linear_equa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12080" y="932688"/>
            <a:ext cx="3611880" cy="38770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4617720"/>
            <a:ext cx="4663440" cy="347472"/>
          </a:xfrm>
          <a:prstGeom prst="rect">
            <a:avLst/>
          </a:prstGeom>
          <a:solidFill>
            <a:srgbClr val="C8960C">
              <a:alpha val="18000"/>
            </a:srgbClr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" y="461772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All three methods — graphical, table, direct equation — give the same answer.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Educational Institute  |  clc.gr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of Equations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8503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each equation on a separate line — Desmos plots both and marks the intersection.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intersection point (x, y) is the solution to the system.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intersection dot to read the exact coordinates — no calculation needed.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2 or more equations simultaneously.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lines = no intersection = no solution.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lines = infinitely many solutions.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adding a slider to see how changing a coefficient moves the solution.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4617720"/>
            <a:ext cx="8503920" cy="365760"/>
          </a:xfrm>
          <a:prstGeom prst="rect">
            <a:avLst/>
          </a:prstGeom>
          <a:solidFill>
            <a:srgbClr val="C8960C">
              <a:alpha val="18000"/>
            </a:srgbClr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61772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Add  x = ...  or  y = ...  as a check line to verify each equation in the system.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Educational Institute  |  clc.gr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Graphing Inequalities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= with  &gt;  &lt;  &gt;=  &lt;=  — Desmos shades the solution region.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&gt; 2x - 1  shades ABOVE the dashed line.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&lt;= x + 3  shades BELOW with a solid boundary.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two inequalities together — Desmos shows the overlapping region.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boundary = strict inequality (&lt; or &gt;).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boundary = includes the line (&lt;= or &gt;=).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shaded overlap is the solution to the system.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66360" y="914400"/>
            <a:ext cx="37033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/sessions/gracious-clever-carson/mnt/outputs/graphs/04_inequaliti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12080" y="932688"/>
            <a:ext cx="3611880" cy="38770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4617720"/>
            <a:ext cx="4663440" cy="347472"/>
          </a:xfrm>
          <a:prstGeom prst="rect">
            <a:avLst/>
          </a:prstGeom>
          <a:solidFill>
            <a:srgbClr val="C8960C">
              <a:alpha val="18000"/>
            </a:srgbClr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" y="461772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Type &gt;= for &gt;= and &lt;= for &lt;= — Desmos converts them automatically.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Educational Institute  |  clc.gr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Tables in Desmos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8503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 +  then  Table  to add a data table to the expression list.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x values in the left column — y values fill automatically if you set a function.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enter both x and y manually to create a scatter of data points.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Enter inside the table to add more rows.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 y1 = f(x1)  to link a table column to any function you defined.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are the starting point for regression — enter your data here, then fit a curve.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paste data copied from Excel or Google Sheets directly into a table.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4617720"/>
            <a:ext cx="8503920" cy="365760"/>
          </a:xfrm>
          <a:prstGeom prst="rect">
            <a:avLst/>
          </a:prstGeom>
          <a:solidFill>
            <a:srgbClr val="C8960C">
              <a:alpha val="18000"/>
            </a:srgbClr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61772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Use tables to spot patterns: look for constant differences (linear) or constant ratios (exponential).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Educational Institute  |  clc.gr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B5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926080"/>
            <a:ext cx="3657600" cy="3657600"/>
          </a:xfrm>
          <a:prstGeom prst="ellipse">
            <a:avLst/>
          </a:prstGeom>
          <a:solidFill>
            <a:srgbClr val="7A0000">
              <a:alpha val="40000"/>
            </a:srgbClr>
          </a:solidFill>
          <a:ln w="12700">
            <a:solidFill>
              <a:srgbClr val="7A0000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Graphing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Defining, evaluating, and transforming functions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Educational Institute  |  clc.gr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and Evaluating Functions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your own function — then call it anywhere in the expression list.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8503920" cy="2286000"/>
          </a:xfrm>
          <a:prstGeom prst="rect">
            <a:avLst/>
          </a:prstGeom>
          <a:solidFill>
            <a:srgbClr val="1C1C2E"/>
          </a:solidFill>
          <a:ln w="25400">
            <a:solidFill>
              <a:srgbClr val="B5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1554480"/>
            <a:ext cx="8229600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f(x) = x^2 - 4x + 3   &lt;- define the function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f(2)                   &lt;- evaluates to -1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f(0)                   &lt;- evaluates to 3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Plot f and a specific point together: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f(x) = x^2 - 4x + 3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(2, f(2))              &lt;- plots the point (2, -1) on the curve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3886200"/>
            <a:ext cx="8503920" cy="502920"/>
          </a:xfrm>
          <a:prstGeom prst="rect">
            <a:avLst/>
          </a:prstGeom>
          <a:solidFill>
            <a:srgbClr val="C8960C">
              <a:alpha val="18000"/>
            </a:srgbClr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38862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Use any letter: f(x), g(x), h(x). Desmos assigns a different color to each.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Educational Institute  |  clc.gr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Functions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form:  f(x) = ax^2 + bx + c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form:    f(x) = a(x-h)^2 + k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is the highest or lowest point — click it to read (h, k).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Roots (x-intercepts): click where the curve crosses the x-axis.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of symmetry: the vertical line  x = h.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sliders for a, b, c (or a, h, k) — drag and watch the parabola move.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graph never crosses the x-axis, the roots are complex (no real solutions).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66360" y="914400"/>
            <a:ext cx="37033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/sessions/gracious-clever-carson/mnt/outputs/graphs/05_quadratic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12080" y="932688"/>
            <a:ext cx="3611880" cy="38770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4617720"/>
            <a:ext cx="4663440" cy="347472"/>
          </a:xfrm>
          <a:prstGeom prst="rect">
            <a:avLst/>
          </a:prstGeom>
          <a:solidFill>
            <a:srgbClr val="C8960C">
              <a:alpha val="18000"/>
            </a:srgbClr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" y="461772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Type  x = (-b)/(2a)  to plot the axis of symmetry as a dotted line.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Educational Institute  |  clc.gr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Sliders and Transformations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letter not yet defined — Desmos offers to add a slider.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type  f(x) = a*x^2 + b  then press 'add sliders'.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the slider handle to change the value — the graph updates live.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the Play button on any slider to animate it continuously.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slider range and step in the slider's settings icon.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 f(x) = a*sin(bx+c)+d  to explore amplitude, period, phase, midline.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Sliders build the deepest intuition about how formulas control graphs.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66360" y="914400"/>
            <a:ext cx="37033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/sessions/gracious-clever-carson/mnt/outputs/graphs/06_slider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12080" y="932688"/>
            <a:ext cx="3611880" cy="38770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4617720"/>
            <a:ext cx="4663440" cy="347472"/>
          </a:xfrm>
          <a:prstGeom prst="rect">
            <a:avLst/>
          </a:prstGeom>
          <a:solidFill>
            <a:srgbClr val="C8960C">
              <a:alpha val="18000"/>
            </a:srgbClr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" y="461772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Use sliders in exams preparation: explore 'what happens if a doubles?' style questions.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Educational Institute  |  clc.gr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Piecewise Functions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functions that behave differently on different intervals.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curly braces  { }  with comma-separated pieces.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f(x) = {condition: expression, condition: expression}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f(x) = {x&lt;0: -x,  0&lt;=x&lt;=2: x^2,  x&gt;2: 4}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Desmos draws each piece only in its correct interval.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circles = strict inequality (not included).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circles = the endpoint is included.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66360" y="914400"/>
            <a:ext cx="37033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/sessions/gracious-clever-carson/mnt/outputs/graphs/13_piecewis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12080" y="932688"/>
            <a:ext cx="3611880" cy="38770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4617720"/>
            <a:ext cx="4663440" cy="347472"/>
          </a:xfrm>
          <a:prstGeom prst="rect">
            <a:avLst/>
          </a:prstGeom>
          <a:solidFill>
            <a:srgbClr val="C8960C">
              <a:alpha val="18000"/>
            </a:srgbClr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" y="461772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Press the { } keys on your keyboard directly — no special menu needed.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Educational Institute  |  clc.gr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Curves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curves defined by separate x(t) and y(t) expressions.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x = cos(t) and y = sin(t) on consecutive lines — Desmos links them.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bracket appears on the left — click to set the t domain.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x=cos(t), y=sin(t)  |  Spiral: x=t*cos(t), y=t*sin(t)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Restrict: add  0 &lt;= t &lt;= 2*pi  to control how much is drawn.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curves let you draw shapes impossible in y = f(x) form.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66360" y="914400"/>
            <a:ext cx="37033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/sessions/gracious-clever-carson/mnt/outputs/graphs/14_parametric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12080" y="932688"/>
            <a:ext cx="3611880" cy="38770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4617720"/>
            <a:ext cx="4663440" cy="347472"/>
          </a:xfrm>
          <a:prstGeom prst="rect">
            <a:avLst/>
          </a:prstGeom>
          <a:solidFill>
            <a:srgbClr val="C8960C">
              <a:alpha val="18000"/>
            </a:srgbClr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" y="461772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Any curve that loops or doubles back on itself must be parametric or polar.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Educational Institute  |  clc.gr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 Curves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equations of the form  r = f(theta).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the polar grid: Wrench icon -&gt; Grid -&gt; Polar.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'theta' — Desmos converts it to the Greek letter automatically.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3              → circle of radius 3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1 + cos(theta) → cardioid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sin(2*theta)   → 4-petal rose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theta          → Archimedean spiral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66360" y="914400"/>
            <a:ext cx="37033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/sessions/gracious-clever-carson/mnt/outputs/graphs/15_pola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12080" y="932688"/>
            <a:ext cx="3611880" cy="38770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4617720"/>
            <a:ext cx="4663440" cy="347472"/>
          </a:xfrm>
          <a:prstGeom prst="rect">
            <a:avLst/>
          </a:prstGeom>
          <a:solidFill>
            <a:srgbClr val="C8960C">
              <a:alpha val="18000"/>
            </a:srgbClr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" y="461772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Use  0 &lt;= theta &lt;= 4*pi  to draw extra loops on spirals and multi-petal roses.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Educational Institute  |  clc.gr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B5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926080"/>
            <a:ext cx="3657600" cy="3657600"/>
          </a:xfrm>
          <a:prstGeom prst="ellipse">
            <a:avLst/>
          </a:prstGeom>
          <a:solidFill>
            <a:srgbClr val="7A0000">
              <a:alpha val="40000"/>
            </a:srgbClr>
          </a:solidFill>
          <a:ln w="12700">
            <a:solidFill>
              <a:srgbClr val="7A0000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Shapes, conics, constructions, and the Geometry tool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Educational Institute  |  clc.gr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in the Graphing Calculator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Desmos plots geometric shapes from their algebraic equations.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Circles, triangles, polygons, and conics — all from standard equations.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domains to draw only segments of lines or curves.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vertex points alongside segments to label shapes.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algebra and geometry on the same grid.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interactive — drag slider points in real time.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66360" y="914400"/>
            <a:ext cx="37033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/sessions/gracious-clever-carson/mnt/outputs/graphs/07_geometr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12080" y="932688"/>
            <a:ext cx="3611880" cy="38770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4617720"/>
            <a:ext cx="4663440" cy="347472"/>
          </a:xfrm>
          <a:prstGeom prst="rect">
            <a:avLst/>
          </a:prstGeom>
          <a:solidFill>
            <a:srgbClr val="C8960C">
              <a:alpha val="18000"/>
            </a:srgbClr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" y="461772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For compass-and-ruler constructions, use the separate desmos.com/geometry tool.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Educational Institute  |  clc.gr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Lines, Rays, and Segments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the domain of any equation using curly braces to draw just a portion.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8503920" cy="2286000"/>
          </a:xfrm>
          <a:prstGeom prst="rect">
            <a:avLst/>
          </a:prstGeom>
          <a:solidFill>
            <a:srgbClr val="1C1C2E"/>
          </a:solidFill>
          <a:ln w="25400">
            <a:solidFill>
              <a:srgbClr val="B5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1554480"/>
            <a:ext cx="8229600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2x + 1                  &lt;- full infinite line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2x + 1  {0 &lt;= x &lt;= 4}  &lt;- segment from x=0 to x=4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2x + 1  {x &gt;= 0}       &lt;- ray starting at x=0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Vertical segment: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3  {1 &lt;= y &lt;= 5}       &lt;- from (3,1) to (3,5)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Right triangle (3 segments):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0  {0&lt;=x&lt;=4}    x = 0  {0&lt;=y&lt;=3}    y = (-3/4)*x + 3  {0&lt;=x&lt;=4}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3886200"/>
            <a:ext cx="8503920" cy="502920"/>
          </a:xfrm>
          <a:prstGeom prst="rect">
            <a:avLst/>
          </a:prstGeom>
          <a:solidFill>
            <a:srgbClr val="C8960C">
              <a:alpha val="18000"/>
            </a:srgbClr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38862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Combine multiple segments to draw any polygon — label the vertices as points.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Educational Institute  |  clc.gr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Circles and Polygons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standard geometric equations — Desmos draws the shape instantly.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4754880" cy="2286000"/>
          </a:xfrm>
          <a:prstGeom prst="rect">
            <a:avLst/>
          </a:prstGeom>
          <a:solidFill>
            <a:srgbClr val="1C1C2E"/>
          </a:solidFill>
          <a:ln w="25400">
            <a:solidFill>
              <a:srgbClr val="B5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1554480"/>
            <a:ext cx="4480560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Circle:  (x-h)^2 + (y-k)^2 = r^2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x^2 + y^2 = 25              &lt;- centre (0,0), radius 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(x-2)^2 + (y-3)^2 = 9      &lt;- centre (2,3), radius 3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Triangle (three restricted lines):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y=x {0&lt;=x&lt;=4}  y=4 {0&lt;=x&lt;=4}  x=0 {0&lt;=y&lt;=4}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Upper semicircle: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sqrt(16 - x^2)          &lt;- top half of circle r=4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3886200"/>
            <a:ext cx="4754880" cy="502920"/>
          </a:xfrm>
          <a:prstGeom prst="rect">
            <a:avLst/>
          </a:prstGeom>
          <a:solidFill>
            <a:srgbClr val="C8960C">
              <a:alpha val="18000"/>
            </a:srgbClr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38862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Plot vertex points like (0,0), (4,0), (0,4) alongside your segments.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57800" y="914400"/>
            <a:ext cx="36118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0" descr="/sessions/gracious-clever-carson/mnt/outputs/graphs/07_geometr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03520" y="932688"/>
            <a:ext cx="3520440" cy="389534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Educational Institute  |  clc.gr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Conic Sections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    (x-h)^2 + (y-k)^2 = r^2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Ellipse:    (x-h)^2/a^2 + (y-k)^2/b^2 = 1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Hyperbola:  (x-h)^2/a^2 - (y-k)^2/b^2 = 1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Parabola:   y = a(x-h)^2 + k   or   x = a(y-k)^2 + h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sliders for h, k, a, b — drag them to see how parameters change shape.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Desmos draws the full conic from one equation — no need to split into halves.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vertical hyperbola, swap x and y in the hyperbola formula.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66360" y="914400"/>
            <a:ext cx="37033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/sessions/gracious-clever-carson/mnt/outputs/graphs/08_conic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12080" y="932688"/>
            <a:ext cx="3611880" cy="38770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4617720"/>
            <a:ext cx="4663440" cy="347472"/>
          </a:xfrm>
          <a:prstGeom prst="rect">
            <a:avLst/>
          </a:prstGeom>
          <a:solidFill>
            <a:srgbClr val="C8960C">
              <a:alpha val="18000"/>
            </a:srgbClr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" y="461772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Conics are cross-sections of a cone — Desmos lets you explore all four in seconds.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Educational Institute  |  clc.gr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Distance, Midpoint, and Slope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draggable points with sliders — formulas update live as you move them.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8503920" cy="2286000"/>
          </a:xfrm>
          <a:prstGeom prst="rect">
            <a:avLst/>
          </a:prstGeom>
          <a:solidFill>
            <a:srgbClr val="1C1C2E"/>
          </a:solidFill>
          <a:ln w="25400">
            <a:solidFill>
              <a:srgbClr val="B5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1554480"/>
            <a:ext cx="8229600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Define two moveable points: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(a1, a2)    &lt;- add sliders for a1 and a2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(b1, b2)    &lt;- add sliders for b1 and b2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Distance  |AB|: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sqrt((b1-a1)^2 + (b2-a2)^2)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Midpoint M: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((a1+b1)/2, (a2+b2)/2)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Slope of AB: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(b2-a2) / (b1-a1)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3886200"/>
            <a:ext cx="8503920" cy="502920"/>
          </a:xfrm>
          <a:prstGeom prst="rect">
            <a:avLst/>
          </a:prstGeom>
          <a:solidFill>
            <a:srgbClr val="C8960C">
              <a:alpha val="18000"/>
            </a:srgbClr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38862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Drag slider points A and B — watch d, M, and m update instantly. Perfect for verifying formulas.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Educational Institute  |  clc.gr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Desmos Geometry Tool  (desmos.com/geometry)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8503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compass-and-ruler environment — free, no account needed.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points, lines, circles, and polygons using geometric tools (not equations).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midpoints, perpendicular bisectors, angle bisectors, parallel lines.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lengths, angles, areas, and perimeters with the Measure tool.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Reflect, rotate, translate, and dilate shapes with transformation tools.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labels and annotations to create clear geometry diagrams for proofs.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draggable — pull any point to explore how the construction changes.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4617720"/>
            <a:ext cx="8503920" cy="365760"/>
          </a:xfrm>
          <a:prstGeom prst="rect">
            <a:avLst/>
          </a:prstGeom>
          <a:solidFill>
            <a:srgbClr val="C8960C">
              <a:alpha val="18000"/>
            </a:srgbClr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61772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Use the Geometry tool for proof-style constructions; use the Graphing Calculator when you need equations.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Educational Institute  |  clc.gr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B5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926080"/>
            <a:ext cx="3657600" cy="3657600"/>
          </a:xfrm>
          <a:prstGeom prst="ellipse">
            <a:avLst/>
          </a:prstGeom>
          <a:solidFill>
            <a:srgbClr val="7A0000">
              <a:alpha val="40000"/>
            </a:srgbClr>
          </a:solidFill>
          <a:ln w="12700">
            <a:solidFill>
              <a:srgbClr val="7A0000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Derivatives, integrals, and limits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Educational Institute  |  clc.gr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 f'(x)  to plot the derivative of f — Desmos computes it automatically.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if  f(x) = x^3 - 3x,  then  f'(x)  draws  3x^2 - 3.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 f'(x) = 0  as a line to find critical points (where f'(x) crosses x-axis).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max: f'(x) changes from + to - (click to read coordinates).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min: f'(x) changes from - to + (click to read coordinates).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 f''(x)  for the second derivative — find inflection points where f''=0.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66360" y="914400"/>
            <a:ext cx="37033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/sessions/gracious-clever-carson/mnt/outputs/graphs/09_derivativ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12080" y="932688"/>
            <a:ext cx="3611880" cy="38770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4617720"/>
            <a:ext cx="4663440" cy="347472"/>
          </a:xfrm>
          <a:prstGeom prst="rect">
            <a:avLst/>
          </a:prstGeom>
          <a:solidFill>
            <a:srgbClr val="C8960C">
              <a:alpha val="18000"/>
            </a:srgbClr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" y="461772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Press the apostrophe key ( ' ) for prime. Higher orders: f''(x), f'''(x).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Educational Institute  |  clc.gr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Definite Integrals and Area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the integral symbol via the Desmos keyboard: tap  f(x)  -&gt;  Calculus.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integral shades the region AND shows the numeric value.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integral from 0 to 3 of x^2 dx  =  9.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between two curves: integrate (f(x) - g(x)) over the interval.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areas = the curve is below the x-axis (Desmos shows this correctly).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vertical boundary lines to drag the integration limits interactively.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66360" y="914400"/>
            <a:ext cx="37033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/sessions/gracious-clever-carson/mnt/outputs/graphs/10_integra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12080" y="932688"/>
            <a:ext cx="3611880" cy="38770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4617720"/>
            <a:ext cx="4663440" cy="347472"/>
          </a:xfrm>
          <a:prstGeom prst="rect">
            <a:avLst/>
          </a:prstGeom>
          <a:solidFill>
            <a:srgbClr val="C8960C">
              <a:alpha val="18000"/>
            </a:srgbClr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" y="461772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Desmos shows the shaded region AND the numeric answer — use this to verify your hand calculations.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Educational Institute  |  clc.gr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Limits Visually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8503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Desmos does not compute limits symbolically — but you can explore them visually.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 — Graph: look for an open circle (hole) at a removable discontinuity.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 — Table: set x values approaching the limit (e.g. 1.9, 1.99, 1.999, 2).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y column — the values converging tell you the limit.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f(x) = (x^2 - 4)/(x - 2) has a hole at x=2, but the limit equals 4.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in very close to the point to read the limit numerically from both sides.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one-sided limits, restrict domain: f(x) {x &lt; 2} and f(x) {x &gt; 2} separately.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4617720"/>
            <a:ext cx="8503920" cy="365760"/>
          </a:xfrm>
          <a:prstGeom prst="rect">
            <a:avLst/>
          </a:prstGeom>
          <a:solidFill>
            <a:srgbClr val="C8960C">
              <a:alpha val="18000"/>
            </a:srgbClr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61772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If the graph has a hole at x=a, the limit still exists — Desmos shows it as an open circle.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Educational Institute  |  clc.gr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B5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926080"/>
            <a:ext cx="3657600" cy="3657600"/>
          </a:xfrm>
          <a:prstGeom prst="ellipse">
            <a:avLst/>
          </a:prstGeom>
          <a:solidFill>
            <a:srgbClr val="7A0000">
              <a:alpha val="40000"/>
            </a:srgbClr>
          </a:solidFill>
          <a:ln w="12700">
            <a:solidFill>
              <a:srgbClr val="7A0000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regression, and distributions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Educational Institute  |  clc.gr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Entering Data in Desmos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8503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 +  -&gt;  Table  to create a data table in the expression list.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x values in the left column (x_1, x_2 ...) and y values on the right.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Enter to add more rows. The scatter plot appears automatically.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paste data copied from Excel or Google Sheets directly into the table.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cell values directly — the scatter plot updates instantly.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data point on the graph to see its exact coordinates.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can have more than 2 columns — add a third for a second y-variable or formula.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4617720"/>
            <a:ext cx="8503920" cy="365760"/>
          </a:xfrm>
          <a:prstGeom prst="rect">
            <a:avLst/>
          </a:prstGeom>
          <a:solidFill>
            <a:srgbClr val="C8960C">
              <a:alpha val="18000"/>
            </a:srgbClr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61772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Start by pasting your class data into a table — you will have a scatter plot in seconds.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Educational Institute  |  clc.gr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and Best Fit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 ~  (tilde) operator to fit any model to your data.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entering data in a table (columns x_1, y_1):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y_1 ~ m*x_1 + b         linear regression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y_1 ~ a*x_1^2 + b*x_1 + c  quadratic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y_1 ~ a*e^(b*x_1)       exponential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Desmos shows the best-fit parameters AND the R² value.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closer to 1 = better fit. The fitted curve is drawn over your data.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66360" y="914400"/>
            <a:ext cx="37033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/sessions/gracious-clever-carson/mnt/outputs/graphs/11_regress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12080" y="932688"/>
            <a:ext cx="3611880" cy="38770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4617720"/>
            <a:ext cx="4663440" cy="347472"/>
          </a:xfrm>
          <a:prstGeom prst="rect">
            <a:avLst/>
          </a:prstGeom>
          <a:solidFill>
            <a:srgbClr val="C8960C">
              <a:alpha val="18000"/>
            </a:srgbClr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" y="461772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Try multiple models (linear, quadratic, exponential) and compare their R² values.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Educational Institute  |  clc.gr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Functions with Lists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dataset as a list:  data = [12, 15, 18, 22, 25, 30]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mean(data) — arithmetic mean   |   median(data) — middle value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stdev(data) — standard deviation   |   mad(data) — mean absolute deviation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min(data) and max(data)   |   total(data) — sum   |   length(data) — count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sort(data) — ascending order   |   shuffle(data) — random order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functions work on any list — no need to create a table first.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combine them:  mean(sort(data))  or  stdev(data)/mean(data) (CV).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23560" y="1005840"/>
            <a:ext cx="3200400" cy="3840480"/>
          </a:xfrm>
          <a:prstGeom prst="rect">
            <a:avLst/>
          </a:prstGeom>
          <a:solidFill>
            <a:srgbClr val="B50000">
              <a:alpha val="10000"/>
            </a:srgbClr>
          </a:solidFill>
          <a:ln w="25400">
            <a:solidFill>
              <a:srgbClr val="B5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23560" y="1005840"/>
            <a:ext cx="3200400" cy="45720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23560" y="1005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15000" y="1572768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= [72,85,90,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66,88,91]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mean(scores) = 82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stdev(scores) = 10.2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median(scores) = 86.5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= 66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= 91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Educational Institute  |  clc.gr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Distributions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normaldist(0, 1)   → standard normal curve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normaldist(0,1).cdf(-1, 1) → P(-1 ≤ Z ≤ 1) = 0.683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normaldist(0,1).inversecdf(0.95) → finds the 95th percentile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binomialdist(10, 0.5)  → binomial n=10, p=0.5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Desmos also supports: poissondist, uniformdist, and more.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point on the distribution curve to read its exact probability.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66360" y="914400"/>
            <a:ext cx="37033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/sessions/gracious-clever-carson/mnt/outputs/graphs/12_statistic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12080" y="932688"/>
            <a:ext cx="3611880" cy="38770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4617720"/>
            <a:ext cx="4663440" cy="347472"/>
          </a:xfrm>
          <a:prstGeom prst="rect">
            <a:avLst/>
          </a:prstGeom>
          <a:solidFill>
            <a:srgbClr val="C8960C">
              <a:alpha val="18000"/>
            </a:srgbClr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" y="461772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Use .cdf(a, b) for P(a ≤ X ≤ b) and .inversecdf(p) to find the value at probability p.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Educational Institute  |  clc.gr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B5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926080"/>
            <a:ext cx="3657600" cy="3657600"/>
          </a:xfrm>
          <a:prstGeom prst="ellipse">
            <a:avLst/>
          </a:prstGeom>
          <a:solidFill>
            <a:srgbClr val="7A0000">
              <a:alpha val="40000"/>
            </a:srgbClr>
          </a:solidFill>
          <a:ln w="12700">
            <a:solidFill>
              <a:srgbClr val="7A0000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Tips, Tricks &amp; Pro Features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most out of Desmos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Educational Institute  |  clc.gr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Your Expression List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8503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text note: start any expression line with  "  (quotation mark) to write a comment.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folders: click  +  -&gt;  Folder  to group related expressions.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folder arrow to collapse or expand it.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a graph without deleting it: click its colored circle to toggle visibility.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an expression: open Edit List mode (gear icon) and click the duplicate icon.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Rearrange lines: in Edit List mode, drag the handle on the left to reorder.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Delete: press the X button, or use Edit List mode for batch deletes.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4617720"/>
            <a:ext cx="8503920" cy="365760"/>
          </a:xfrm>
          <a:prstGeom prst="rect">
            <a:avLst/>
          </a:prstGeom>
          <a:solidFill>
            <a:srgbClr val="C8960C">
              <a:alpha val="18000"/>
            </a:srgbClr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61772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Keep your list tidy — folders and text notes make complex graphs much easier to understand.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Educational Institute  |  clc.gr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Desmos on iPad and Mobile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8503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desmos.com/calculator in Safari or Chrome — the full calculator works in the browser.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 Desmos app is available on the App Store (iOS) and Google Play (Android).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touchscreen: pinch to zoom, two-finger drag to pan the graph.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keyboard icon (bottom of expression list) to open the math keyboard.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iPad copy/paste Method 1: three-finger pinch closed = copy, pinch open = paste.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iPad copy/paste Method 2: tap-and-hold an expression, select Copy from the menu.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iPad copy/paste Method 3: with a physical keyboard, use Ctrl+C / Ctrl+V as usual.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an expression: tap Edit (gear icon) then tap the overlapping-squares icon.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4617720"/>
            <a:ext cx="8503920" cy="365760"/>
          </a:xfrm>
          <a:prstGeom prst="rect">
            <a:avLst/>
          </a:prstGeom>
          <a:solidFill>
            <a:srgbClr val="C8960C">
              <a:alpha val="18000"/>
            </a:srgbClr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61772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The iPad app and browser version are nearly identical — all features work on both.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Educational Institute  |  clc.gr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Tips for Students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8503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Desmos as a checker — solve by hand, then verify with Desmos.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important points: click any graph point and add a custom label.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 sliders with the Play button — great for spotting patterns visually.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 pi  for pi,  e  for Euler's number,  infinity  for infinity.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 f(x) = {condition: value}  to restrict any function to a domain.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scientific notation: type  1e6  for 1,000,000.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Desmos keyboard has Greek letters, absolute value, summation — explore it all.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Desmos Art online — students have created stunning images with only equations!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4617720"/>
            <a:ext cx="8503920" cy="365760"/>
          </a:xfrm>
          <a:prstGeom prst="rect">
            <a:avLst/>
          </a:prstGeom>
          <a:solidFill>
            <a:srgbClr val="C8960C">
              <a:alpha val="18000"/>
            </a:srgbClr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61772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Your teacher can also set up a Desmos Classroom activity for interactive lessons at teacher.desmos.com.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Educational Institute  |  clc.gr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</a:rPr>
              <a:t>Arithmetic Operations in Desmos</a:t>
            </a:r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4000000" cy="3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</a:rPr>
              <a:t>Basic operators: </a:t>
            </a:r>
            <a:r>
              <a:rPr lang="en-US" sz="1400" b="1" dirty="0">
                <a:solidFill>
                  <a:srgbClr val="B50000"/>
                </a:solidFill>
                <a:latin typeface="Calibri" pitchFamily="34" charset="0"/>
              </a:rPr>
              <a:t>+  -  *  /  ^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</a:rPr>
              <a:t>Square root: type </a:t>
            </a:r>
            <a:r>
              <a:rPr lang="en-US" sz="1400" b="1" dirty="0">
                <a:solidFill>
                  <a:srgbClr val="B50000"/>
                </a:solidFill>
                <a:latin typeface="Calibri" pitchFamily="34" charset="0"/>
              </a:rPr>
              <a:t>sqrt(9)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</a:rPr>
              <a:t> = 3   or use the keyboard symbol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</a:rPr>
              <a:t>nth root: </a:t>
            </a:r>
            <a:r>
              <a:rPr lang="en-US" sz="1400" b="1" dirty="0">
                <a:solidFill>
                  <a:srgbClr val="B50000"/>
                </a:solidFill>
                <a:latin typeface="Calibri" pitchFamily="34" charset="0"/>
              </a:rPr>
              <a:t>nthroot(8,3)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</a:rPr>
              <a:t> = 2   (cube root of 8)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</a:rPr>
              <a:t>Pi: type </a:t>
            </a:r>
            <a:r>
              <a:rPr lang="en-US" sz="1400" b="1" dirty="0">
                <a:solidFill>
                  <a:srgbClr val="B50000"/>
                </a:solidFill>
                <a:latin typeface="Calibri" pitchFamily="34" charset="0"/>
              </a:rPr>
              <a:t>pi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</a:rPr>
              <a:t> → Desmos shows π = 3.14159...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</a:rPr>
              <a:t>Euler’s number: type </a:t>
            </a:r>
            <a:r>
              <a:rPr lang="en-US" sz="1400" b="1" dirty="0">
                <a:solidFill>
                  <a:srgbClr val="B50000"/>
                </a:solidFill>
                <a:latin typeface="Calibri" pitchFamily="34" charset="0"/>
              </a:rPr>
              <a:t>e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</a:rPr>
              <a:t> → Desmos uses e = 2.71828...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</a:rPr>
              <a:t>Absolute value: </a:t>
            </a:r>
            <a:r>
              <a:rPr lang="en-US" sz="1400" b="1" dirty="0">
                <a:solidFill>
                  <a:srgbClr val="B50000"/>
                </a:solidFill>
                <a:latin typeface="Calibri" pitchFamily="34" charset="0"/>
              </a:rPr>
              <a:t>abs(-7)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</a:rPr>
              <a:t> = 7   or use | | from the keyboard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</a:rPr>
              <a:t>Logarithms: </a:t>
            </a:r>
            <a:r>
              <a:rPr lang="en-US" sz="1400" b="1" dirty="0">
                <a:solidFill>
                  <a:srgbClr val="B50000"/>
                </a:solidFill>
                <a:latin typeface="Calibri" pitchFamily="34" charset="0"/>
              </a:rPr>
              <a:t>log(100)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</a:rPr>
              <a:t> = 2  |  </a:t>
            </a:r>
            <a:r>
              <a:rPr lang="en-US" sz="1400" b="1" dirty="0">
                <a:solidFill>
                  <a:srgbClr val="B50000"/>
                </a:solidFill>
                <a:latin typeface="Calibri" pitchFamily="34" charset="0"/>
              </a:rPr>
              <a:t>ln(e)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</a:rPr>
              <a:t> = 1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</a:rPr>
              <a:t>Trig: </a:t>
            </a:r>
            <a:r>
              <a:rPr lang="en-US" sz="1400" b="1" dirty="0">
                <a:solidFill>
                  <a:srgbClr val="B50000"/>
                </a:solidFill>
                <a:latin typeface="Calibri" pitchFamily="34" charset="0"/>
              </a:rPr>
              <a:t>sin(pi/6)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</a:rPr>
              <a:t> = 0.5  (use Wrench to set Radians or Degrees)</a:t>
            </a:r>
          </a:p>
        </p:txBody>
      </p:sp>
      <p:sp>
        <p:nvSpPr>
          <p:cNvPr id="10" name="Shape 8"/>
          <p:cNvSpPr/>
          <p:nvPr/>
        </p:nvSpPr>
        <p:spPr>
          <a:xfrm>
            <a:off x="4500000" y="1005840"/>
            <a:ext cx="4323960" cy="3700000"/>
          </a:xfrm>
          <a:prstGeom prst="rect">
            <a:avLst/>
          </a:prstGeom>
          <a:solidFill>
            <a:srgbClr val="1C1C2E">
              <a:alpha val="8000"/>
            </a:srgbClr>
          </a:solidFill>
          <a:ln w="19050">
            <a:solidFill>
              <a:srgbClr val="B5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0000" y="1060000"/>
            <a:ext cx="4123960" cy="3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</a:rPr>
              <a:t>EXAMPLES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50000"/>
                </a:solidFill>
                <a:latin typeface="Calibri" pitchFamily="34" charset="0"/>
              </a:rPr>
              <a:t>sqrt(2) * pi</a:t>
            </a:r>
            <a:r>
              <a:rPr lang="en-US" sz="1200" dirty="0">
                <a:solidFill>
                  <a:srgbClr val="DDDDDD"/>
                </a:solidFill>
                <a:latin typeface="Calibri" pitchFamily="34" charset="0"/>
              </a:rPr>
              <a:t>  = 4.4429...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50000"/>
                </a:solidFill>
                <a:latin typeface="Calibri" pitchFamily="34" charset="0"/>
              </a:rPr>
              <a:t>e^2 + sqrt(5)</a:t>
            </a:r>
            <a:r>
              <a:rPr lang="en-US" sz="1200" dirty="0">
                <a:solidFill>
                  <a:srgbClr val="DDDDDD"/>
                </a:solidFill>
                <a:latin typeface="Calibri" pitchFamily="34" charset="0"/>
              </a:rPr>
              <a:t>  = 9.6207...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50000"/>
                </a:solidFill>
                <a:latin typeface="Calibri" pitchFamily="34" charset="0"/>
              </a:rPr>
              <a:t>nthroot(27, 3)</a:t>
            </a:r>
            <a:r>
              <a:rPr lang="en-US" sz="1200" dirty="0">
                <a:solidFill>
                  <a:srgbClr val="DDDDDD"/>
                </a:solidFill>
                <a:latin typeface="Calibri" pitchFamily="34" charset="0"/>
              </a:rPr>
              <a:t>  = 3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50000"/>
                </a:solidFill>
                <a:latin typeface="Calibri" pitchFamily="34" charset="0"/>
              </a:rPr>
              <a:t>log(1000)</a:t>
            </a:r>
            <a:r>
              <a:rPr lang="en-US" sz="1200" dirty="0">
                <a:solidFill>
                  <a:srgbClr val="DDDDDD"/>
                </a:solidFill>
                <a:latin typeface="Calibri" pitchFamily="34" charset="0"/>
              </a:rPr>
              <a:t>  = 3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50000"/>
                </a:solidFill>
                <a:latin typeface="Calibri" pitchFamily="34" charset="0"/>
              </a:rPr>
              <a:t>sin(pi/2)</a:t>
            </a:r>
            <a:r>
              <a:rPr lang="en-US" sz="1200" dirty="0">
                <a:solidFill>
                  <a:srgbClr val="DDDDDD"/>
                </a:solidFill>
                <a:latin typeface="Calibri" pitchFamily="34" charset="0"/>
              </a:rPr>
              <a:t>  = 1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50000"/>
                </a:solidFill>
                <a:latin typeface="Calibri" pitchFamily="34" charset="0"/>
              </a:rPr>
              <a:t>2^10</a:t>
            </a:r>
            <a:r>
              <a:rPr lang="en-US" sz="1200" dirty="0">
                <a:solidFill>
                  <a:srgbClr val="DDDDDD"/>
                </a:solidFill>
                <a:latin typeface="Calibri" pitchFamily="34" charset="0"/>
              </a:rPr>
              <a:t>  = 1024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B50000"/>
                </a:solidFill>
                <a:latin typeface="Calibri" pitchFamily="34" charset="0"/>
              </a:rPr>
              <a:t>abs(-5) + sqrt(16)</a:t>
            </a:r>
            <a:r>
              <a:rPr lang="en-US" sz="1200" dirty="0">
                <a:solidFill>
                  <a:srgbClr val="DDDDDD"/>
                </a:solidFill>
                <a:latin typeface="Calibri" pitchFamily="34" charset="0"/>
              </a:rPr>
              <a:t>  = 9</a:t>
            </a:r>
          </a:p>
        </p:txBody>
      </p:sp>
      <p:sp>
        <p:nvSpPr>
          <p:cNvPr id="6" name="Shape 4"/>
          <p:cNvSpPr/>
          <p:nvPr/>
        </p:nvSpPr>
        <p:spPr>
          <a:xfrm>
            <a:off x="320040" y="4617720"/>
            <a:ext cx="8503920" cy="365760"/>
          </a:xfrm>
          <a:prstGeom prst="rect">
            <a:avLst/>
          </a:prstGeom>
          <a:solidFill>
            <a:srgbClr val="C8960C">
              <a:alpha val="18000"/>
            </a:srgbClr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61772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</a:rPr>
              <a:t>TIP:  Desmos evaluates expressions instantly. Use it as a scientific calculator — no graphing needed!</a:t>
            </a:r>
          </a:p>
        </p:txBody>
      </p:sp>
      <p:sp>
        <p:nvSpPr>
          <p:cNvPr id="8" name="Shape 6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</a:rPr>
              <a:t>CLC Educational Institute  |  clc.gr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</a:rPr>
              <a:t>Regression: Fitting a Curve to Data</a:t>
            </a:r>
          </a:p>
        </p:txBody>
      </p:sp>
      <p:sp>
        <p:nvSpPr>
          <p:cNvPr id="5" name="Text 3"/>
          <p:cNvSpPr/>
          <p:nvPr/>
        </p:nvSpPr>
        <p:spPr>
          <a:xfrm>
            <a:off x="320040" y="980000"/>
            <a:ext cx="4100000" cy="1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D2D2D"/>
                </a:solidFill>
                <a:latin typeface="Calibri" pitchFamily="34" charset="0"/>
              </a:rPr>
              <a:t>Enter data in a </a:t>
            </a:r>
            <a:r>
              <a:rPr lang="en-US" sz="1350" b="1" dirty="0">
                <a:solidFill>
                  <a:srgbClr val="B50000"/>
                </a:solidFill>
                <a:latin typeface="Calibri" pitchFamily="34" charset="0"/>
              </a:rPr>
              <a:t>Table</a:t>
            </a:r>
            <a:r>
              <a:rPr lang="en-US" sz="1350" dirty="0">
                <a:solidFill>
                  <a:srgbClr val="2D2D2D"/>
                </a:solidFill>
                <a:latin typeface="Calibri" pitchFamily="34" charset="0"/>
              </a:rPr>
              <a:t> with columns x₁ and y₁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D2D2D"/>
                </a:solidFill>
                <a:latin typeface="Calibri" pitchFamily="34" charset="0"/>
              </a:rPr>
              <a:t>Use </a:t>
            </a:r>
            <a:r>
              <a:rPr lang="en-US" sz="1350" b="1" dirty="0">
                <a:solidFill>
                  <a:srgbClr val="B50000"/>
                </a:solidFill>
                <a:latin typeface="Calibri" pitchFamily="34" charset="0"/>
              </a:rPr>
              <a:t>~</a:t>
            </a:r>
            <a:r>
              <a:rPr lang="en-US" sz="1350" dirty="0">
                <a:solidFill>
                  <a:srgbClr val="2D2D2D"/>
                </a:solidFill>
                <a:latin typeface="Calibri" pitchFamily="34" charset="0"/>
              </a:rPr>
              <a:t> (tilde) to define your model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D2D2D"/>
                </a:solidFill>
                <a:latin typeface="Calibri" pitchFamily="34" charset="0"/>
              </a:rPr>
              <a:t>Desmos shows best-fit parameters and </a:t>
            </a:r>
            <a:r>
              <a:rPr lang="en-US" sz="1350" b="1" dirty="0">
                <a:solidFill>
                  <a:srgbClr val="B50000"/>
                </a:solidFill>
                <a:latin typeface="Calibri" pitchFamily="34" charset="0"/>
              </a:rPr>
              <a:t>R²</a:t>
            </a:r>
            <a:r>
              <a:rPr lang="en-US" sz="1350" dirty="0">
                <a:solidFill>
                  <a:srgbClr val="2D2D2D"/>
                </a:solidFill>
                <a:latin typeface="Calibri" pitchFamily="34" charset="0"/>
              </a:rPr>
              <a:t> value (closer to 1 = better fit)</a:t>
            </a:r>
          </a:p>
        </p:txBody>
      </p:sp>
      <p:sp>
        <p:nvSpPr>
          <p:cNvPr id="12" name="Shape 10"/>
          <p:cNvSpPr/>
          <p:nvPr/>
        </p:nvSpPr>
        <p:spPr>
          <a:xfrm>
            <a:off x="320040" y="2750000"/>
            <a:ext cx="4000000" cy="1620000"/>
          </a:xfrm>
          <a:prstGeom prst="rect">
            <a:avLst/>
          </a:prstGeom>
          <a:solidFill>
            <a:srgbClr val="1C1C2E">
              <a:alpha val="8000"/>
            </a:srgbClr>
          </a:solidFill>
          <a:ln w="19050">
            <a:solidFill>
              <a:srgbClr val="B5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040" y="2820000"/>
            <a:ext cx="3800000" cy="1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C8960C"/>
                </a:solidFill>
                <a:latin typeface="Calibri" pitchFamily="34" charset="0"/>
              </a:rPr>
              <a:t>LINEAR REGRESSION  (2 points)</a:t>
            </a:r>
          </a:p>
          <a:p>
            <a:pPr marL="0" indent="0">
              <a:spcAft>
                <a:spcPts val="150"/>
              </a:spcAft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Table: x₁ = [1, 4]   y₁ = [3, 9]</a:t>
            </a:r>
          </a:p>
          <a:p>
            <a:pPr marL="0" indent="0">
              <a:spcAft>
                <a:spcPts val="150"/>
              </a:spcAft>
              <a:buNone/>
            </a:pPr>
            <a:r>
              <a:rPr lang="en-US" sz="1100" b="1" dirty="0">
                <a:solidFill>
                  <a:srgbClr val="B50000"/>
                </a:solidFill>
                <a:latin typeface="Calibri" pitchFamily="34" charset="0"/>
              </a:rPr>
              <a:t>y₁ ~ m*x₁ + b</a:t>
            </a:r>
          </a:p>
          <a:p>
            <a:pPr marL="0" indent="0">
              <a:spcAft>
                <a:spcPts val="150"/>
              </a:spcAft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</a:rPr>
              <a:t>Result: m = 2, b = 1  (y = 2x + 1)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</a:rPr>
              <a:t>R² = 1.0  (perfect fit)</a:t>
            </a:r>
          </a:p>
        </p:txBody>
      </p:sp>
      <p:sp>
        <p:nvSpPr>
          <p:cNvPr id="14" name="Shape 12"/>
          <p:cNvSpPr/>
          <p:nvPr/>
        </p:nvSpPr>
        <p:spPr>
          <a:xfrm>
            <a:off x="4590000" y="980000"/>
            <a:ext cx="4234000" cy="3380000"/>
          </a:xfrm>
          <a:prstGeom prst="rect">
            <a:avLst/>
          </a:prstGeom>
          <a:solidFill>
            <a:srgbClr val="1C1C2E">
              <a:alpha val="8000"/>
            </a:srgbClr>
          </a:solidFill>
          <a:ln w="19050">
            <a:solidFill>
              <a:srgbClr val="C896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0000" y="1060000"/>
            <a:ext cx="4034000" cy="32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C8960C"/>
                </a:solidFill>
                <a:latin typeface="Calibri" pitchFamily="34" charset="0"/>
              </a:rPr>
              <a:t>QUADRATIC REGRESSION  (3 points)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Table: x₁ = [0, 2, 4]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        y₁ = [1, 5, 17]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B50000"/>
                </a:solidFill>
                <a:latin typeface="Calibri" pitchFamily="34" charset="0"/>
              </a:rPr>
              <a:t>y₁ ~ a*x₁^2 + b*x₁ + c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</a:rPr>
              <a:t>Result: a=1, b=1, c=1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</a:rPr>
              <a:t>y = x² + x + 1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</a:rPr>
              <a:t>R² = 1.0  (perfect fit)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C8960C"/>
                </a:solidFill>
                <a:latin typeface="Calibri" pitchFamily="34" charset="0"/>
              </a:rPr>
              <a:t>OTHER MODELS:</a:t>
            </a:r>
          </a:p>
          <a:p>
            <a:pPr marL="0" indent="0">
              <a:spcAft>
                <a:spcPts val="150"/>
              </a:spcAft>
              <a:buNone/>
            </a:pPr>
            <a:r>
              <a:rPr lang="en-US" sz="1100" b="1" dirty="0">
                <a:solidFill>
                  <a:srgbClr val="B50000"/>
                </a:solidFill>
                <a:latin typeface="Calibri" pitchFamily="34" charset="0"/>
              </a:rPr>
              <a:t>y₁ ~ a*e^(b*x₁)</a:t>
            </a:r>
            <a:r>
              <a:rPr lang="en-US" sz="1100" dirty="0">
                <a:solidFill>
                  <a:srgbClr val="AAAAAA"/>
                </a:solidFill>
                <a:latin typeface="Calibri" pitchFamily="34" charset="0"/>
              </a:rPr>
              <a:t>  exponential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100" b="1" dirty="0">
                <a:solidFill>
                  <a:srgbClr val="B50000"/>
                </a:solidFill>
                <a:latin typeface="Calibri" pitchFamily="34" charset="0"/>
              </a:rPr>
              <a:t>y₁ ~ a*ln(x₁) + b</a:t>
            </a:r>
            <a:r>
              <a:rPr lang="en-US" sz="1100" dirty="0">
                <a:solidFill>
                  <a:srgbClr val="AAAAAA"/>
                </a:solidFill>
                <a:latin typeface="Calibri" pitchFamily="34" charset="0"/>
              </a:rPr>
              <a:t>  logarithmic</a:t>
            </a:r>
          </a:p>
        </p:txBody>
      </p:sp>
      <p:sp>
        <p:nvSpPr>
          <p:cNvPr id="6" name="Shape 4"/>
          <p:cNvSpPr/>
          <p:nvPr/>
        </p:nvSpPr>
        <p:spPr>
          <a:xfrm>
            <a:off x="320040" y="4617720"/>
            <a:ext cx="8503920" cy="365760"/>
          </a:xfrm>
          <a:prstGeom prst="rect">
            <a:avLst/>
          </a:prstGeom>
          <a:solidFill>
            <a:srgbClr val="C8960C">
              <a:alpha val="18000"/>
            </a:srgbClr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61772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</a:rPr>
              <a:t>TIP:  Try multiple models and compare R² values — the model closest to 1 fits your data best.</a:t>
            </a:r>
          </a:p>
        </p:txBody>
      </p:sp>
      <p:sp>
        <p:nvSpPr>
          <p:cNvPr id="8" name="Shape 6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</a:rPr>
              <a:t>CLC Educational Institute  |  clc.gr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</a:rPr>
              <a:t>Mean and Standard Deviation</a:t>
            </a:r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4100000" cy="3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D2D2D"/>
                </a:solidFill>
                <a:latin typeface="Calibri" pitchFamily="34" charset="0"/>
              </a:rPr>
              <a:t>Define your data as a list: </a:t>
            </a:r>
            <a:r>
              <a:rPr lang="en-US" sz="1350" b="1" dirty="0">
                <a:solidFill>
                  <a:srgbClr val="B50000"/>
                </a:solidFill>
                <a:latin typeface="Calibri" pitchFamily="34" charset="0"/>
              </a:rPr>
              <a:t>data = [v1, v2, ...]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D2D2D"/>
                </a:solidFill>
                <a:latin typeface="Calibri" pitchFamily="34" charset="0"/>
              </a:rPr>
              <a:t>Mean: </a:t>
            </a:r>
            <a:r>
              <a:rPr lang="en-US" sz="1350" b="1" dirty="0">
                <a:solidFill>
                  <a:srgbClr val="B50000"/>
                </a:solidFill>
                <a:latin typeface="Calibri" pitchFamily="34" charset="0"/>
              </a:rPr>
              <a:t>mean(data)</a:t>
            </a:r>
            <a:r>
              <a:rPr lang="en-US" sz="1350" dirty="0">
                <a:solidFill>
                  <a:srgbClr val="2D2D2D"/>
                </a:solidFill>
                <a:latin typeface="Calibri" pitchFamily="34" charset="0"/>
              </a:rPr>
              <a:t> = arithmetic average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D2D2D"/>
                </a:solidFill>
                <a:latin typeface="Calibri" pitchFamily="34" charset="0"/>
              </a:rPr>
              <a:t>Standard deviation: </a:t>
            </a:r>
            <a:r>
              <a:rPr lang="en-US" sz="1350" b="1" dirty="0">
                <a:solidFill>
                  <a:srgbClr val="B50000"/>
                </a:solidFill>
                <a:latin typeface="Calibri" pitchFamily="34" charset="0"/>
              </a:rPr>
              <a:t>stdev(data)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D2D2D"/>
                </a:solidFill>
                <a:latin typeface="Calibri" pitchFamily="34" charset="0"/>
              </a:rPr>
              <a:t>Median: </a:t>
            </a:r>
            <a:r>
              <a:rPr lang="en-US" sz="1350" b="1" dirty="0">
                <a:solidFill>
                  <a:srgbClr val="B50000"/>
                </a:solidFill>
                <a:latin typeface="Calibri" pitchFamily="34" charset="0"/>
              </a:rPr>
              <a:t>median(data)</a:t>
            </a:r>
            <a:r>
              <a:rPr lang="en-US" sz="1350" dirty="0">
                <a:solidFill>
                  <a:srgbClr val="2D2D2D"/>
                </a:solidFill>
                <a:latin typeface="Calibri" pitchFamily="34" charset="0"/>
              </a:rPr>
              <a:t> = middle value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D2D2D"/>
                </a:solidFill>
                <a:latin typeface="Calibri" pitchFamily="34" charset="0"/>
              </a:rPr>
              <a:t>Min / Max: </a:t>
            </a:r>
            <a:r>
              <a:rPr lang="en-US" sz="1350" b="1" dirty="0">
                <a:solidFill>
                  <a:srgbClr val="B50000"/>
                </a:solidFill>
                <a:latin typeface="Calibri" pitchFamily="34" charset="0"/>
              </a:rPr>
              <a:t>min(data)</a:t>
            </a:r>
            <a:r>
              <a:rPr lang="en-US" sz="1350" dirty="0">
                <a:solidFill>
                  <a:srgbClr val="2D2D2D"/>
                </a:solidFill>
                <a:latin typeface="Calibri" pitchFamily="34" charset="0"/>
              </a:rPr>
              <a:t>  /  </a:t>
            </a:r>
            <a:r>
              <a:rPr lang="en-US" sz="1350" b="1" dirty="0">
                <a:solidFill>
                  <a:srgbClr val="B50000"/>
                </a:solidFill>
                <a:latin typeface="Calibri" pitchFamily="34" charset="0"/>
              </a:rPr>
              <a:t>max(data)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D2D2D"/>
                </a:solidFill>
                <a:latin typeface="Calibri" pitchFamily="34" charset="0"/>
              </a:rPr>
              <a:t>Total / Count: </a:t>
            </a:r>
            <a:r>
              <a:rPr lang="en-US" sz="1350" b="1" dirty="0">
                <a:solidFill>
                  <a:srgbClr val="B50000"/>
                </a:solidFill>
                <a:latin typeface="Calibri" pitchFamily="34" charset="0"/>
              </a:rPr>
              <a:t>total(data)</a:t>
            </a:r>
            <a:r>
              <a:rPr lang="en-US" sz="1350" dirty="0">
                <a:solidFill>
                  <a:srgbClr val="2D2D2D"/>
                </a:solidFill>
                <a:latin typeface="Calibri" pitchFamily="34" charset="0"/>
              </a:rPr>
              <a:t>  /  </a:t>
            </a:r>
            <a:r>
              <a:rPr lang="en-US" sz="1350" b="1" dirty="0">
                <a:solidFill>
                  <a:srgbClr val="B50000"/>
                </a:solidFill>
                <a:latin typeface="Calibri" pitchFamily="34" charset="0"/>
              </a:rPr>
              <a:t>length(data)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D2D2D"/>
                </a:solidFill>
                <a:latin typeface="Calibri" pitchFamily="34" charset="0"/>
              </a:rPr>
              <a:t>No table needed — lists work directly in the expression list</a:t>
            </a:r>
          </a:p>
        </p:txBody>
      </p:sp>
      <p:sp>
        <p:nvSpPr>
          <p:cNvPr id="10" name="Shape 8"/>
          <p:cNvSpPr/>
          <p:nvPr/>
        </p:nvSpPr>
        <p:spPr>
          <a:xfrm>
            <a:off x="4590000" y="1005840"/>
            <a:ext cx="4234000" cy="3600000"/>
          </a:xfrm>
          <a:prstGeom prst="rect">
            <a:avLst/>
          </a:prstGeom>
          <a:solidFill>
            <a:srgbClr val="1C1C2E">
              <a:alpha val="8000"/>
            </a:srgbClr>
          </a:solidFill>
          <a:ln w="19050">
            <a:solidFill>
              <a:srgbClr val="B5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000" y="1080000"/>
            <a:ext cx="4034000" cy="34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C8960C"/>
                </a:solidFill>
                <a:latin typeface="Calibri" pitchFamily="34" charset="0"/>
              </a:rPr>
              <a:t>EXAMPLE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50000"/>
                </a:solidFill>
                <a:latin typeface="Calibri" pitchFamily="34" charset="0"/>
              </a:rPr>
              <a:t>scores = [72, 85, 90, 66, 88, 91]</a:t>
            </a:r>
          </a:p>
          <a:p>
            <a:pPr marL="0" indent="0">
              <a:spcAft>
                <a:spcPts val="150"/>
              </a:spcAft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</a:rPr>
              <a:t>mean(scores)    = 82</a:t>
            </a:r>
          </a:p>
          <a:p>
            <a:pPr marL="0" indent="0">
              <a:spcAft>
                <a:spcPts val="150"/>
              </a:spcAft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</a:rPr>
              <a:t>stdev(scores)   = 10.2</a:t>
            </a:r>
          </a:p>
          <a:p>
            <a:pPr marL="0" indent="0">
              <a:spcAft>
                <a:spcPts val="150"/>
              </a:spcAft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</a:rPr>
              <a:t>median(scores)  = 86.5</a:t>
            </a:r>
          </a:p>
          <a:p>
            <a:pPr marL="0" indent="0">
              <a:spcAft>
                <a:spcPts val="150"/>
              </a:spcAft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</a:rPr>
              <a:t>min(scores)     = 66</a:t>
            </a:r>
          </a:p>
          <a:p>
            <a:pPr marL="0" indent="0">
              <a:spcAft>
                <a:spcPts val="150"/>
              </a:spcAft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</a:rPr>
              <a:t>max(scores)     = 91</a:t>
            </a:r>
          </a:p>
          <a:p>
            <a:pPr marL="0" indent="0">
              <a:spcAft>
                <a:spcPts val="150"/>
              </a:spcAft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</a:rPr>
              <a:t>total(scores)   = 492</a:t>
            </a:r>
          </a:p>
          <a:p>
            <a:pPr marL="0" indent="0">
              <a:spcAft>
                <a:spcPts val="150"/>
              </a:spcAft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</a:rPr>
              <a:t>length(scores)  = 6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8960C"/>
                </a:solidFill>
                <a:latin typeface="Calibri" pitchFamily="34" charset="0"/>
              </a:rPr>
              <a:t>COEFFICIENT OF VARIATION: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150" b="1" dirty="0">
                <a:solidFill>
                  <a:srgbClr val="B50000"/>
                </a:solidFill>
                <a:latin typeface="Calibri" pitchFamily="34" charset="0"/>
              </a:rPr>
              <a:t>stdev(scores)/mean(scores)</a:t>
            </a:r>
            <a:r>
              <a:rPr lang="en-US" sz="1150" dirty="0">
                <a:solidFill>
                  <a:srgbClr val="DDDDDD"/>
                </a:solidFill>
                <a:latin typeface="Calibri" pitchFamily="34" charset="0"/>
              </a:rPr>
              <a:t> = 0.124</a:t>
            </a:r>
          </a:p>
        </p:txBody>
      </p:sp>
      <p:sp>
        <p:nvSpPr>
          <p:cNvPr id="6" name="Shape 4"/>
          <p:cNvSpPr/>
          <p:nvPr/>
        </p:nvSpPr>
        <p:spPr>
          <a:xfrm>
            <a:off x="320040" y="4617720"/>
            <a:ext cx="8503920" cy="365760"/>
          </a:xfrm>
          <a:prstGeom prst="rect">
            <a:avLst/>
          </a:prstGeom>
          <a:solidFill>
            <a:srgbClr val="C8960C">
              <a:alpha val="18000"/>
            </a:srgbClr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61772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</a:rPr>
              <a:t>TIP:  On the SAT, mean and standard deviation are frequently tested. Verify your hand calculation instantly with Desmos.</a:t>
            </a:r>
          </a:p>
        </p:txBody>
      </p:sp>
      <p:sp>
        <p:nvSpPr>
          <p:cNvPr id="8" name="Shape 6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</a:rPr>
              <a:t>CLC Educational Institute  |  clc.gr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</a:rPr>
              <a:t>SAT Quick-Reference: Desmos Commands</a:t>
            </a:r>
          </a:p>
        </p:txBody>
      </p:sp>
      <p:sp>
        <p:nvSpPr>
          <p:cNvPr id="20" name="Shape 20"/>
          <p:cNvSpPr/>
          <p:nvPr/>
        </p:nvSpPr>
        <p:spPr>
          <a:xfrm>
            <a:off x="320040" y="980000"/>
            <a:ext cx="2700000" cy="3660000"/>
          </a:xfrm>
          <a:prstGeom prst="rect">
            <a:avLst/>
          </a:prstGeom>
          <a:solidFill>
            <a:srgbClr val="1C1C2E">
              <a:alpha val="8000"/>
            </a:srgbClr>
          </a:solidFill>
          <a:ln w="19050">
            <a:solidFill>
              <a:srgbClr val="B50000"/>
            </a:solidFill>
            <a:prstDash val="solid"/>
          </a:ln>
        </p:spPr>
      </p:sp>
      <p:sp>
        <p:nvSpPr>
          <p:cNvPr id="21" name="Text 21"/>
          <p:cNvSpPr/>
          <p:nvPr/>
        </p:nvSpPr>
        <p:spPr>
          <a:xfrm>
            <a:off x="420040" y="1060000"/>
            <a:ext cx="2520000" cy="35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</a:rPr>
              <a:t>ARITHMETIC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B50000"/>
                </a:solidFill>
                <a:latin typeface="Calibri" pitchFamily="34" charset="0"/>
              </a:rPr>
              <a:t>sqrt(x)</a:t>
            </a:r>
            <a:r>
              <a:rPr lang="en-US" sz="1150" dirty="0">
                <a:solidFill>
                  <a:srgbClr val="BBBBBB"/>
                </a:solidFill>
                <a:latin typeface="Calibri" pitchFamily="34" charset="0"/>
              </a:rPr>
              <a:t>  square root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B50000"/>
                </a:solidFill>
                <a:latin typeface="Calibri" pitchFamily="34" charset="0"/>
              </a:rPr>
              <a:t>nthroot(x,n)</a:t>
            </a:r>
            <a:r>
              <a:rPr lang="en-US" sz="1150" dirty="0">
                <a:solidFill>
                  <a:srgbClr val="BBBBBB"/>
                </a:solidFill>
                <a:latin typeface="Calibri" pitchFamily="34" charset="0"/>
              </a:rPr>
              <a:t>  nth root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B50000"/>
                </a:solidFill>
                <a:latin typeface="Calibri" pitchFamily="34" charset="0"/>
              </a:rPr>
              <a:t>abs(x)</a:t>
            </a:r>
            <a:r>
              <a:rPr lang="en-US" sz="1150" dirty="0">
                <a:solidFill>
                  <a:srgbClr val="BBBBBB"/>
                </a:solidFill>
                <a:latin typeface="Calibri" pitchFamily="34" charset="0"/>
              </a:rPr>
              <a:t>  |x|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B50000"/>
                </a:solidFill>
                <a:latin typeface="Calibri" pitchFamily="34" charset="0"/>
              </a:rPr>
              <a:t>pi</a:t>
            </a:r>
            <a:r>
              <a:rPr lang="en-US" sz="1150" dirty="0">
                <a:solidFill>
                  <a:srgbClr val="BBBBBB"/>
                </a:solidFill>
                <a:latin typeface="Calibri" pitchFamily="34" charset="0"/>
              </a:rPr>
              <a:t>  π = 3.14159...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B50000"/>
                </a:solidFill>
                <a:latin typeface="Calibri" pitchFamily="34" charset="0"/>
              </a:rPr>
              <a:t>e</a:t>
            </a:r>
            <a:r>
              <a:rPr lang="en-US" sz="1150" dirty="0">
                <a:solidFill>
                  <a:srgbClr val="BBBBBB"/>
                </a:solidFill>
                <a:latin typeface="Calibri" pitchFamily="34" charset="0"/>
              </a:rPr>
              <a:t>  e = 2.71828...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B50000"/>
                </a:solidFill>
                <a:latin typeface="Calibri" pitchFamily="34" charset="0"/>
              </a:rPr>
              <a:t>log(x)</a:t>
            </a:r>
            <a:r>
              <a:rPr lang="en-US" sz="1150" dirty="0">
                <a:solidFill>
                  <a:srgbClr val="BBBBBB"/>
                </a:solidFill>
                <a:latin typeface="Calibri" pitchFamily="34" charset="0"/>
              </a:rPr>
              <a:t>  log base 10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B50000"/>
                </a:solidFill>
                <a:latin typeface="Calibri" pitchFamily="34" charset="0"/>
              </a:rPr>
              <a:t>ln(x)</a:t>
            </a:r>
            <a:r>
              <a:rPr lang="en-US" sz="1150" dirty="0">
                <a:solidFill>
                  <a:srgbClr val="BBBBBB"/>
                </a:solidFill>
                <a:latin typeface="Calibri" pitchFamily="34" charset="0"/>
              </a:rPr>
              <a:t>  natural log</a:t>
            </a:r>
          </a:p>
        </p:txBody>
      </p:sp>
      <p:sp>
        <p:nvSpPr>
          <p:cNvPr id="22" name="Shape 22"/>
          <p:cNvSpPr/>
          <p:nvPr/>
        </p:nvSpPr>
        <p:spPr>
          <a:xfrm>
            <a:off x="3220000" y="980000"/>
            <a:ext cx="2700000" cy="3660000"/>
          </a:xfrm>
          <a:prstGeom prst="rect">
            <a:avLst/>
          </a:prstGeom>
          <a:solidFill>
            <a:srgbClr val="1C1C2E">
              <a:alpha val="8000"/>
            </a:srgbClr>
          </a:solidFill>
          <a:ln w="19050">
            <a:solidFill>
              <a:srgbClr val="C8960C"/>
            </a:solidFill>
            <a:prstDash val="solid"/>
          </a:ln>
        </p:spPr>
      </p:sp>
      <p:sp>
        <p:nvSpPr>
          <p:cNvPr id="23" name="Text 23"/>
          <p:cNvSpPr/>
          <p:nvPr/>
        </p:nvSpPr>
        <p:spPr>
          <a:xfrm>
            <a:off x="3320000" y="1060000"/>
            <a:ext cx="2520000" cy="35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</a:rPr>
              <a:t>REGRESSION</a:t>
            </a:r>
          </a:p>
          <a:p>
            <a:pPr marL="0" indent="0">
              <a:spcAft>
                <a:spcPts val="150"/>
              </a:spcAft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</a:rPr>
              <a:t>Enter data in a Table</a:t>
            </a:r>
          </a:p>
          <a:p>
            <a:pPr marL="0" indent="0">
              <a:spcAft>
                <a:spcPts val="150"/>
              </a:spcAft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</a:rPr>
              <a:t>columns x₁, y₁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</a:rPr>
              <a:t>then type your model: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B50000"/>
                </a:solidFill>
                <a:latin typeface="Calibri" pitchFamily="34" charset="0"/>
              </a:rPr>
              <a:t>y₁ ~ mx₁ + b</a:t>
            </a:r>
            <a:r>
              <a:rPr lang="en-US" sz="1100" dirty="0">
                <a:solidFill>
                  <a:srgbClr val="AAAAAA"/>
                </a:solidFill>
                <a:latin typeface="Calibri" pitchFamily="34" charset="0"/>
              </a:rPr>
              <a:t>  linear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B50000"/>
                </a:solidFill>
                <a:latin typeface="Calibri" pitchFamily="34" charset="0"/>
              </a:rPr>
              <a:t>y₁ ~ ax₁^2+bx₁+c</a:t>
            </a:r>
            <a:r>
              <a:rPr lang="en-US" sz="1100" dirty="0">
                <a:solidFill>
                  <a:srgbClr val="AAAAAA"/>
                </a:solidFill>
                <a:latin typeface="Calibri" pitchFamily="34" charset="0"/>
              </a:rPr>
              <a:t>  quadratic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B50000"/>
                </a:solidFill>
                <a:latin typeface="Calibri" pitchFamily="34" charset="0"/>
              </a:rPr>
              <a:t>y₁ ~ ae^(bx₁)</a:t>
            </a:r>
            <a:r>
              <a:rPr lang="en-US" sz="1100" dirty="0">
                <a:solidFill>
                  <a:srgbClr val="AAAAAA"/>
                </a:solidFill>
                <a:latin typeface="Calibri" pitchFamily="34" charset="0"/>
              </a:rPr>
              <a:t>  exponential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B50000"/>
                </a:solidFill>
                <a:latin typeface="Calibri" pitchFamily="34" charset="0"/>
              </a:rPr>
              <a:t>y₁ ~ aln(x₁)+b</a:t>
            </a:r>
            <a:r>
              <a:rPr lang="en-US" sz="1100" dirty="0">
                <a:solidFill>
                  <a:srgbClr val="AAAAAA"/>
                </a:solidFill>
                <a:latin typeface="Calibri" pitchFamily="34" charset="0"/>
              </a:rPr>
              <a:t>  logarithmic</a:t>
            </a:r>
          </a:p>
          <a:p>
            <a:pPr marL="0" indent="0">
              <a:spcAft>
                <a:spcPts val="150"/>
              </a:spcAft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Desmos shows R² and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best-fit curve automatically</a:t>
            </a:r>
          </a:p>
        </p:txBody>
      </p:sp>
      <p:sp>
        <p:nvSpPr>
          <p:cNvPr id="24" name="Shape 24"/>
          <p:cNvSpPr/>
          <p:nvPr/>
        </p:nvSpPr>
        <p:spPr>
          <a:xfrm>
            <a:off x="6124000" y="980000"/>
            <a:ext cx="2700000" cy="3660000"/>
          </a:xfrm>
          <a:prstGeom prst="rect">
            <a:avLst/>
          </a:prstGeom>
          <a:solidFill>
            <a:srgbClr val="1C1C2E">
              <a:alpha val="8000"/>
            </a:srgbClr>
          </a:solidFill>
          <a:ln w="19050">
            <a:solidFill>
              <a:srgbClr val="B50000"/>
            </a:solidFill>
            <a:prstDash val="solid"/>
          </a:ln>
        </p:spPr>
      </p:sp>
      <p:sp>
        <p:nvSpPr>
          <p:cNvPr id="25" name="Text 25"/>
          <p:cNvSpPr/>
          <p:nvPr/>
        </p:nvSpPr>
        <p:spPr>
          <a:xfrm>
            <a:off x="6224000" y="1060000"/>
            <a:ext cx="2520000" cy="35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</a:rPr>
              <a:t>STATISTICS</a:t>
            </a:r>
          </a:p>
          <a:p>
            <a:pPr marL="0" indent="0">
              <a:spcAft>
                <a:spcPts val="150"/>
              </a:spcAft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</a:rPr>
              <a:t>data = [v1, v2, ...]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</a:rPr>
              <a:t>then call: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B50000"/>
                </a:solidFill>
                <a:latin typeface="Calibri" pitchFamily="34" charset="0"/>
              </a:rPr>
              <a:t>mean(data)</a:t>
            </a:r>
            <a:r>
              <a:rPr lang="en-US" sz="1100" dirty="0">
                <a:solidFill>
                  <a:srgbClr val="AAAAAA"/>
                </a:solidFill>
                <a:latin typeface="Calibri" pitchFamily="34" charset="0"/>
              </a:rPr>
              <a:t>  average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B50000"/>
                </a:solidFill>
                <a:latin typeface="Calibri" pitchFamily="34" charset="0"/>
              </a:rPr>
              <a:t>stdev(data)</a:t>
            </a:r>
            <a:r>
              <a:rPr lang="en-US" sz="1100" dirty="0">
                <a:solidFill>
                  <a:srgbClr val="AAAAAA"/>
                </a:solidFill>
                <a:latin typeface="Calibri" pitchFamily="34" charset="0"/>
              </a:rPr>
              <a:t>  std dev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B50000"/>
                </a:solidFill>
                <a:latin typeface="Calibri" pitchFamily="34" charset="0"/>
              </a:rPr>
              <a:t>median(data)</a:t>
            </a:r>
            <a:r>
              <a:rPr lang="en-US" sz="1100" dirty="0">
                <a:solidFill>
                  <a:srgbClr val="AAAAAA"/>
                </a:solidFill>
                <a:latin typeface="Calibri" pitchFamily="34" charset="0"/>
              </a:rPr>
              <a:t>  middle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B50000"/>
                </a:solidFill>
                <a:latin typeface="Calibri" pitchFamily="34" charset="0"/>
              </a:rPr>
              <a:t>min(data)</a:t>
            </a:r>
            <a:r>
              <a:rPr lang="en-US" sz="1100" dirty="0">
                <a:solidFill>
                  <a:srgbClr val="AAAAAA"/>
                </a:solidFill>
                <a:latin typeface="Calibri" pitchFamily="34" charset="0"/>
              </a:rPr>
              <a:t>  minimum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B50000"/>
                </a:solidFill>
                <a:latin typeface="Calibri" pitchFamily="34" charset="0"/>
              </a:rPr>
              <a:t>max(data)</a:t>
            </a:r>
            <a:r>
              <a:rPr lang="en-US" sz="1100" dirty="0">
                <a:solidFill>
                  <a:srgbClr val="AAAAAA"/>
                </a:solidFill>
                <a:latin typeface="Calibri" pitchFamily="34" charset="0"/>
              </a:rPr>
              <a:t>  maximum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B50000"/>
                </a:solidFill>
                <a:latin typeface="Calibri" pitchFamily="34" charset="0"/>
              </a:rPr>
              <a:t>total(data)</a:t>
            </a:r>
            <a:r>
              <a:rPr lang="en-US" sz="1100" dirty="0">
                <a:solidFill>
                  <a:srgbClr val="AAAAAA"/>
                </a:solidFill>
                <a:latin typeface="Calibri" pitchFamily="34" charset="0"/>
              </a:rPr>
              <a:t>  sum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150" b="1" dirty="0">
                <a:solidFill>
                  <a:srgbClr val="B50000"/>
                </a:solidFill>
                <a:latin typeface="Calibri" pitchFamily="34" charset="0"/>
              </a:rPr>
              <a:t>length(data)</a:t>
            </a:r>
            <a:r>
              <a:rPr lang="en-US" sz="1100" dirty="0">
                <a:solidFill>
                  <a:srgbClr val="AAAAAA"/>
                </a:solidFill>
                <a:latin typeface="Calibri" pitchFamily="34" charset="0"/>
              </a:rPr>
              <a:t>  count</a:t>
            </a:r>
          </a:p>
        </p:txBody>
      </p:sp>
      <p:sp>
        <p:nvSpPr>
          <p:cNvPr id="6" name="Shape 4"/>
          <p:cNvSpPr/>
          <p:nvPr/>
        </p:nvSpPr>
        <p:spPr>
          <a:xfrm>
            <a:off x="320040" y="4617720"/>
            <a:ext cx="8503920" cy="365760"/>
          </a:xfrm>
          <a:prstGeom prst="rect">
            <a:avLst/>
          </a:prstGeom>
          <a:solidFill>
            <a:srgbClr val="C8960C">
              <a:alpha val="18000"/>
            </a:srgbClr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61772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</a:rPr>
              <a:t>TIP:  Keep this slide as your Desmos cheat sheet for SAT exam day — all three toolsets in one view!</a:t>
            </a:r>
          </a:p>
        </p:txBody>
      </p:sp>
      <p:sp>
        <p:nvSpPr>
          <p:cNvPr id="8" name="Shape 6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</a:rPr>
              <a:t>CLC Educational Institute  |  clc.gr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5029200" cy="5029200"/>
          </a:xfrm>
          <a:prstGeom prst="ellipse">
            <a:avLst/>
          </a:prstGeom>
          <a:solidFill>
            <a:srgbClr val="B50000">
              <a:alpha val="20000"/>
            </a:srgbClr>
          </a:solidFill>
          <a:ln w="12700">
            <a:solidFill>
              <a:srgbClr val="B5000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C8960C">
              <a:alpha val="15000"/>
            </a:srgbClr>
          </a:solidFill>
          <a:ln w="12700">
            <a:solidFill>
              <a:srgbClr val="C8960C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347472"/>
            <a:ext cx="2194560" cy="384048"/>
          </a:xfrm>
          <a:prstGeom prst="rect">
            <a:avLst/>
          </a:prstGeom>
          <a:solidFill>
            <a:srgbClr val="B50000"/>
          </a:solidFill>
          <a:ln w="12700">
            <a:solidFill>
              <a:srgbClr val="B5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474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 |  Mathematics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now ready to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problems with Desmos!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743200" y="2788920"/>
            <a:ext cx="3657600" cy="64008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exploring today: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4015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desmos.com/calculator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Educational Institute  |  clc.gr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rights reserved. For educational use only.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5503</Words>
  <Application>Microsoft Macintosh PowerPoint</Application>
  <PresentationFormat>On-screen Show (16:9)</PresentationFormat>
  <Paragraphs>571</Paragraphs>
  <Slides>48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Solving Problems with Desmos – CLC Educational Institute</dc:title>
  <dc:subject>PptxGenJS Presentation</dc:subject>
  <dc:creator>PptxGenJS</dc:creator>
  <cp:lastModifiedBy>PEPPY CLC</cp:lastModifiedBy>
  <cp:revision>1</cp:revision>
  <dcterms:created xsi:type="dcterms:W3CDTF">2026-06-13T06:06:57Z</dcterms:created>
  <dcterms:modified xsi:type="dcterms:W3CDTF">2026-07-28T09:57:20Z</dcterms:modified>
</cp:coreProperties>
</file>